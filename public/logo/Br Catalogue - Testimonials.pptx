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563C-34E4-484A-8782-90732CB2B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A2C7A-9577-4401-B5C1-491264DD4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DBB8E-6672-48E1-8594-D81099C2D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32C2F-0510-46AA-BD90-34AEB80B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861FE-E7BA-435D-969A-DE34CE71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71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272C1-3376-489D-8A1F-6246A181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220A3-F931-4E71-BF5D-F84501F68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4BE5-85E3-456A-9730-54727678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D2C2B-D806-4738-839A-EAE61675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B2D8-D08A-49FE-A081-8FAFCD7C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5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A46F-8469-45DC-869D-867BE191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BDE64-36A4-49F6-927F-7A3E55E8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361D8-4A6A-4A65-992F-8552BE01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58ED4-9D34-497A-8D7E-498DE24C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53703-2755-4905-9A0E-6A8A5F80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96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A419-C8DB-4557-B2A1-04FAA3FD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6A96-4F08-4FCA-954C-8133C8606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134AF-1A0C-4A3E-9102-BD3490119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97158-1EC2-473B-80F7-6F66DEAB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9838C-B27A-4B7F-85D9-2E261251B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51215-76E6-4AA2-8469-E2B208FB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99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2CCA-93B9-4236-95D1-D1DE93A5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DA843-E7B7-4829-A123-AE4144E39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EE366-9316-4E0B-9008-10EB6628E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E8556-83DE-4279-A07D-4353FE0DC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0FEFD-170D-4E52-9B6D-B868D6909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0969A-B8A4-44BD-81B7-D4974152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D151B-3FEB-4325-ACB6-22CD342E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9B18F-0254-4938-B5D2-6281B520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8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F68FF-0A4F-4931-AD04-93F14E59B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7D807-D837-42B0-AAFB-8C5C35B3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FF86A-2534-4188-8E69-5C6BDC65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D42AF9-E172-4D90-8ADC-DE7EB7D0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9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F39978-89AB-431E-B6E7-565C8E5B8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35115-C50E-4F12-B904-4E56C523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4C75B-FE39-4021-894C-CE9ECC5D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913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D790-E8A6-49F2-A805-F251623B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08DF4-BE17-420F-B2AD-7248E0A82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23241-5CCB-47B6-8F46-52FAE3AD2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DAC9A-1A9E-4706-87A9-32E2E288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9A067-9A71-4902-BFD3-09433320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C87B7-EFC8-45E5-A067-8DB081852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67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46A1-8087-4947-BA3B-344FFAA70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E3DDB-7488-4E0A-8B8B-183942018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DAC6C-9148-4B35-8B55-8CEEF337D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0CA99-9258-4BF8-BB22-25673977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80F28-2EC6-45B4-980D-E166A76B4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D1EF0-C430-49D1-B6B4-FD8677C9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6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8E69-D707-400A-B6F5-B30D9455A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6C75A-D6F4-4AD3-9B15-EB4211210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95966-2B72-4DC1-BED0-62B124D2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3B556-AD2E-41BE-8101-8909FD96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EF11C-1952-4745-9E0D-E680EFDD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67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CE080-409D-4E1A-A466-B89B89FB1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95667-6E80-4169-83D5-0BF028225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39D6-8C65-4DA9-8753-2F22FEBC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1ABD7-E377-4277-B7CA-DFE5EABF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5AB3D-62F4-4647-8371-0A2ED2B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48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F85A7-ED18-4063-9AAB-2521B36D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88343-971D-4EA2-9EC5-59E300790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2A7CE-1A7C-4EB7-B04F-018FE887C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3CF9E-B904-42E3-85C5-CB481B74D832}" type="datetimeFigureOut">
              <a:rPr lang="en-GB" smtClean="0"/>
              <a:t>16/01/2026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37CF1-6BE2-4475-AD0F-A7F553907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8FB36-8D80-401D-9933-981CDBE82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4106F-73D0-4028-803B-99D734A7E5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04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eg"/><Relationship Id="rId4" Type="http://schemas.openxmlformats.org/officeDocument/2006/relationships/image" Target="../media/image16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1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22D240FE-8C6C-4844-9803-D7FEF3ACBF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" r="15833" b="1"/>
          <a:stretch>
            <a:fillRect/>
          </a:stretch>
        </p:blipFill>
        <p:spPr>
          <a:xfrm>
            <a:off x="198739" y="171717"/>
            <a:ext cx="5804105" cy="3167426"/>
          </a:xfrm>
          <a:prstGeom prst="rect">
            <a:avLst/>
          </a:prstGeom>
        </p:spPr>
      </p:pic>
      <p:pic>
        <p:nvPicPr>
          <p:cNvPr id="4" name="Picture 3" descr="1.jpg">
            <a:extLst>
              <a:ext uri="{FF2B5EF4-FFF2-40B4-BE49-F238E27FC236}">
                <a16:creationId xmlns:a16="http://schemas.microsoft.com/office/drawing/2014/main" id="{23CCC823-CF39-4B0F-A055-90BA686F49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4679"/>
          <a:stretch>
            <a:fillRect/>
          </a:stretch>
        </p:blipFill>
        <p:spPr>
          <a:xfrm>
            <a:off x="6195373" y="171717"/>
            <a:ext cx="5797883" cy="3167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083E36-4BB0-469D-B6BC-F2AAAB8F04A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42" r="-2" b="21809"/>
          <a:stretch>
            <a:fillRect/>
          </a:stretch>
        </p:blipFill>
        <p:spPr>
          <a:xfrm>
            <a:off x="198739" y="3510858"/>
            <a:ext cx="5804105" cy="2789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8B415C-4C91-4FC5-AE50-D424152FDD9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54" r="2" b="9187"/>
          <a:stretch>
            <a:fillRect/>
          </a:stretch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33A60-D310-42EF-B935-B7866921967B}"/>
              </a:ext>
            </a:extLst>
          </p:cNvPr>
          <p:cNvSpPr txBox="1"/>
          <p:nvPr/>
        </p:nvSpPr>
        <p:spPr>
          <a:xfrm>
            <a:off x="482909" y="964752"/>
            <a:ext cx="5015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 appreciated the interactive nature of the classroom sessions, which allowed for open discussions and sharing of experiences.</a:t>
            </a: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Aiman .Central –I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BD4347-5A60-4427-B407-75B135A918F5}"/>
              </a:ext>
            </a:extLst>
          </p:cNvPr>
          <p:cNvSpPr/>
          <p:nvPr/>
        </p:nvSpPr>
        <p:spPr>
          <a:xfrm>
            <a:off x="482909" y="2615128"/>
            <a:ext cx="501592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branch rotation aspect of the training provided valuable hands-on experience and a deeper understanding of the day-to-day responsibilities of a Branch Service Ambassador.</a:t>
            </a:r>
          </a:p>
          <a:p>
            <a:pPr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Komal Baloch, Lahore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87ED6E-2141-426F-81F3-26E4356A783D}"/>
              </a:ext>
            </a:extLst>
          </p:cNvPr>
          <p:cNvSpPr txBox="1"/>
          <p:nvPr/>
        </p:nvSpPr>
        <p:spPr>
          <a:xfrm>
            <a:off x="6690660" y="964752"/>
            <a:ext cx="45091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had an amazing time at branch where I gained valuable knowledge. It was a new experience for me. During rotation period I developed relationships building quality which improved my customer services.</a:t>
            </a:r>
          </a:p>
          <a:p>
            <a:pPr algn="just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Areeba Sheikh- Islamabad</a:t>
            </a:r>
          </a:p>
          <a:p>
            <a:pPr algn="just"/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0EDE55-09D3-41E2-B7FC-61E4AEFA1BE2}"/>
              </a:ext>
            </a:extLst>
          </p:cNvPr>
          <p:cNvSpPr/>
          <p:nvPr/>
        </p:nvSpPr>
        <p:spPr>
          <a:xfrm>
            <a:off x="6583679" y="2551837"/>
            <a:ext cx="540392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has been very interactive sessions. Everything has been explained so well. We have learned Soo much. During rotation period we  implemented what we have learnt.</a:t>
            </a:r>
          </a:p>
          <a:p>
            <a:pPr algn="just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Samreen , Swat </a:t>
            </a:r>
          </a:p>
          <a:p>
            <a:pPr algn="just"/>
            <a:endParaRPr lang="en-US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25505-95E8-4AA8-860E-D844D4006D8C}"/>
              </a:ext>
            </a:extLst>
          </p:cNvPr>
          <p:cNvSpPr txBox="1"/>
          <p:nvPr/>
        </p:nvSpPr>
        <p:spPr>
          <a:xfrm>
            <a:off x="482909" y="4450603"/>
            <a:ext cx="48693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trainers demonstrated exceptional knowledge and expertise, making the classroom sessions engaging and valuable.</a:t>
            </a:r>
          </a:p>
          <a:p>
            <a:pPr algn="just"/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Rameen Yasin C-II</a:t>
            </a:r>
          </a:p>
          <a:p>
            <a:pPr algn="just"/>
            <a:endParaRPr lang="en-US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1CDC5-ADBA-4FE9-86D4-95B5F5AB84FD}"/>
              </a:ext>
            </a:extLst>
          </p:cNvPr>
          <p:cNvSpPr txBox="1"/>
          <p:nvPr/>
        </p:nvSpPr>
        <p:spPr>
          <a:xfrm>
            <a:off x="6690660" y="3818934"/>
            <a:ext cx="5015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opportunity to rotate through different branches was instrumental in broadening my perspective and adapting to various work environments.</a:t>
            </a:r>
          </a:p>
          <a:p>
            <a:pPr algn="just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Rimsha Nisar , South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398C0-36FE-4B51-80DB-9470DBB08BEB}"/>
              </a:ext>
            </a:extLst>
          </p:cNvPr>
          <p:cNvSpPr txBox="1"/>
          <p:nvPr/>
        </p:nvSpPr>
        <p:spPr>
          <a:xfrm>
            <a:off x="6583678" y="5053031"/>
            <a:ext cx="51229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classroom sessions effectively covered a wide range of topics relevant to the role, equipping us with the necessary skills and knowledge.</a:t>
            </a:r>
          </a:p>
          <a:p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Aqsa Tauseef- Karachi</a:t>
            </a:r>
          </a:p>
          <a:p>
            <a:endParaRPr lang="en-US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44E69-AEEC-4967-9890-A5533231EDCE}"/>
              </a:ext>
            </a:extLst>
          </p:cNvPr>
          <p:cNvSpPr txBox="1"/>
          <p:nvPr/>
        </p:nvSpPr>
        <p:spPr>
          <a:xfrm>
            <a:off x="0" y="171210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Feedback-TBSA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920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100-00000C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712" y="870249"/>
            <a:ext cx="3657601" cy="2609850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00000000-0008-0000-0100-00000E000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756" y="4660448"/>
            <a:ext cx="3657601" cy="180975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27432" tIns="27432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sz="11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=&gt;  </a:t>
            </a:r>
            <a:r>
              <a:rPr lang="en-US" sz="1000" b="1" i="0" u="none" strike="noStrike" dirty="0">
                <a:effectLst/>
                <a:latin typeface="+mn-lt"/>
                <a:ea typeface="+mn-ea"/>
                <a:cs typeface="+mn-cs"/>
              </a:rPr>
              <a:t>RAZA AHMED KHAN</a:t>
            </a:r>
            <a:r>
              <a:rPr lang="en-US" sz="1100" b="1" dirty="0"/>
              <a:t> (BM) 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Training session was very interesting and knowledgeable . I am fully satisfied regarding this training and thanks to learning department for arrangement this session.</a:t>
            </a:r>
          </a:p>
          <a:p>
            <a:pPr algn="l" rtl="0">
              <a:defRPr sz="1000"/>
            </a:pPr>
            <a:endParaRPr lang="en-US" sz="1100" b="0" i="0" u="none" strike="noStrike" baseline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 rtl="0">
              <a:defRPr sz="1000"/>
            </a:pPr>
            <a:endParaRPr lang="en-US" sz="1100" b="0" i="0" u="none" strike="noStrike" baseline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 rtl="0">
              <a:defRPr sz="1000"/>
            </a:pPr>
            <a:r>
              <a:rPr lang="en-US" sz="1100" b="0" i="0" u="none" strike="noStrike" baseline="0" dirty="0">
                <a:solidFill>
                  <a:srgbClr val="000000"/>
                </a:solidFill>
                <a:latin typeface="+mn-lt"/>
                <a:ea typeface="Calibri"/>
                <a:cs typeface="Calibri"/>
              </a:rPr>
              <a:t>=&gt; </a:t>
            </a:r>
            <a:r>
              <a:rPr lang="en-US" sz="1000" b="1" i="0" u="none" strike="noStrike" dirty="0">
                <a:effectLst/>
                <a:latin typeface="+mn-lt"/>
                <a:ea typeface="+mn-ea"/>
                <a:cs typeface="+mn-cs"/>
              </a:rPr>
              <a:t>Imran Ali Zafar</a:t>
            </a:r>
            <a:r>
              <a:rPr lang="en-US" sz="1100" b="1" dirty="0"/>
              <a:t> (BM) 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+mn-lt"/>
                <a:ea typeface="Calibri"/>
                <a:cs typeface="Calibri"/>
              </a:rPr>
              <a:t>Integrate practical case studies, digital tools, and trade compliance insights to make the SME and Trade course more impactful and future-ready.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588E80-66F9-4D50-AAE0-E777D15D8263}"/>
              </a:ext>
            </a:extLst>
          </p:cNvPr>
          <p:cNvSpPr txBox="1">
            <a:spLocks/>
          </p:cNvSpPr>
          <p:nvPr/>
        </p:nvSpPr>
        <p:spPr>
          <a:xfrm>
            <a:off x="8277199" y="4044483"/>
            <a:ext cx="4228652" cy="537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Trade &amp; SME Certification </a:t>
            </a:r>
            <a:endParaRPr lang="en-GB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CC43FB-F451-47E3-A89C-5803FE634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3" y="571500"/>
            <a:ext cx="475487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8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72F13-4D15-4939-85D3-9B000902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169071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Jumpstart Induction Program</a:t>
            </a:r>
            <a:endParaRPr lang="en-US" sz="6600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100-000009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927" y="1800088"/>
            <a:ext cx="3312037" cy="45061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000000-0008-0000-0100-000008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035" y="3614610"/>
            <a:ext cx="2958437" cy="32156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000000-0008-0000-0100-000007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55" y="1301222"/>
            <a:ext cx="3120399" cy="2285692"/>
          </a:xfrm>
          <a:prstGeom prst="rect">
            <a:avLst/>
          </a:prstGeom>
        </p:spPr>
      </p:pic>
      <p:pic>
        <p:nvPicPr>
          <p:cNvPr id="13" name="Picture 12" descr="shutterstock_1145261477.jpg">
            <a:extLst>
              <a:ext uri="{FF2B5EF4-FFF2-40B4-BE49-F238E27FC236}">
                <a16:creationId xmlns:a16="http://schemas.microsoft.com/office/drawing/2014/main" id="{790A53D4-EA68-4C5F-AB7D-F69DD2EB1EF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23"/>
          <a:stretch/>
        </p:blipFill>
        <p:spPr>
          <a:xfrm flipH="1">
            <a:off x="44140" y="0"/>
            <a:ext cx="4479074" cy="655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15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dobeStock_179531844.jpe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6"/>
          <a:stretch/>
        </p:blipFill>
        <p:spPr>
          <a:xfrm>
            <a:off x="131245" y="1233420"/>
            <a:ext cx="7899574" cy="514114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-3882" y="1233420"/>
            <a:ext cx="439838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Respected All,</a:t>
            </a:r>
          </a:p>
          <a:p>
            <a:pPr algn="ctr"/>
            <a:endParaRPr lang="en-US" sz="1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are cordially invited as Guest Speaker for Opening ceremony of </a:t>
            </a:r>
          </a:p>
          <a:p>
            <a:pPr algn="ctr"/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Emerging Branch Service Manager Certification Program</a:t>
            </a:r>
          </a:p>
          <a:p>
            <a:pPr algn="ctr"/>
            <a:endParaRPr lang="en-US" sz="1500" b="1" u="sng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Highlighting the importance, essential skills &amp; knowledge for future BSMs. Your presence will highlight the significance of governance skills in  performing - Leadership roles.</a:t>
            </a:r>
          </a:p>
          <a:p>
            <a:pPr algn="ctr"/>
            <a:endParaRPr lang="en-US" sz="2200" b="1" i="1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200" dirty="0">
              <a:solidFill>
                <a:srgbClr val="000000"/>
              </a:solidFill>
            </a:endParaRPr>
          </a:p>
        </p:txBody>
      </p:sp>
      <p:pic>
        <p:nvPicPr>
          <p:cNvPr id="2" name="Picture 1" descr="Header-0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37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383CF-29A4-4FB4-A240-75E4FA4B4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946" y="1764255"/>
            <a:ext cx="3806930" cy="43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71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image004">
            <a:extLst>
              <a:ext uri="{FF2B5EF4-FFF2-40B4-BE49-F238E27FC236}">
                <a16:creationId xmlns:a16="http://schemas.microsoft.com/office/drawing/2014/main" id="{B6853F13-07CC-4A37-9DF0-01B9D7BF2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" t="6286" r="8804" b="2216"/>
          <a:stretch/>
        </p:blipFill>
        <p:spPr bwMode="auto">
          <a:xfrm>
            <a:off x="5752618" y="335667"/>
            <a:ext cx="3576578" cy="3093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" descr="image011">
            <a:extLst>
              <a:ext uri="{FF2B5EF4-FFF2-40B4-BE49-F238E27FC236}">
                <a16:creationId xmlns:a16="http://schemas.microsoft.com/office/drawing/2014/main" id="{2BDEE284-C5CD-4103-BB53-6AF6C64169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78"/>
          <a:stretch/>
        </p:blipFill>
        <p:spPr bwMode="auto">
          <a:xfrm>
            <a:off x="243068" y="123162"/>
            <a:ext cx="5231757" cy="649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C6028A-DBD8-4C60-B6D3-D2A13D907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55" y="5846923"/>
            <a:ext cx="1838582" cy="581106"/>
          </a:xfrm>
          <a:prstGeom prst="rect">
            <a:avLst/>
          </a:prstGeom>
        </p:spPr>
      </p:pic>
      <p:pic>
        <p:nvPicPr>
          <p:cNvPr id="1029" name="Picture 7" descr="image005">
            <a:extLst>
              <a:ext uri="{FF2B5EF4-FFF2-40B4-BE49-F238E27FC236}">
                <a16:creationId xmlns:a16="http://schemas.microsoft.com/office/drawing/2014/main" id="{43169E4B-D130-486F-B3C2-7E077E7E9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195" y="3513074"/>
            <a:ext cx="3576578" cy="3009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0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314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Jumpstart Induction Program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Zubia Shehryar</dc:creator>
  <cp:lastModifiedBy>Syed Furqan Ali</cp:lastModifiedBy>
  <cp:revision>4</cp:revision>
  <dcterms:created xsi:type="dcterms:W3CDTF">2026-01-06T10:18:55Z</dcterms:created>
  <dcterms:modified xsi:type="dcterms:W3CDTF">2026-01-16T11:57:55Z</dcterms:modified>
</cp:coreProperties>
</file>